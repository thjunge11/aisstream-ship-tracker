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8FF"/>
                </a:solidFill>
              </a:rPr>
              <a:t>AIS Ship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0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A real-time maritime data engineering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676"/>
                </a:solidFill>
              </a:rPr>
              <a:t>DATA ENGINEERING CAPSTONE PROJECT  · 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379476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Kafka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96896" y="379476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1024" y="3794760"/>
            <a:ext cx="109728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8032" y="379476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79476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Flask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3794760"/>
            <a:ext cx="1179576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MapLibre GL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379476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AWS EC2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794760"/>
            <a:ext cx="1426464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What is AIS &amp; Why does it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AAAAA"/>
                </a:solidFill>
              </a:rPr>
              <a:t>• Over 90 000 vessels are at sea at any moment</a:t>
            </a:r>
          </a:p>
          <a:p>
            <a:r>
              <a:rPr sz="1100">
                <a:solidFill>
                  <a:srgbClr val="AAAAAA"/>
                </a:solidFill>
              </a:rPr>
              <a:t>• The Automatic Identification System (AIS) broadcasts GPS position, speed, heading and identity every few seconds from every vessel</a:t>
            </a:r>
          </a:p>
          <a:p>
            <a:r>
              <a:rPr sz="1100">
                <a:solidFill>
                  <a:srgbClr val="AAAAAA"/>
                </a:solidFill>
              </a:rPr>
              <a:t>• The raw stream is a high-velocity, schema-varied firehose — unsuitable for direct consumption</a:t>
            </a:r>
          </a:p>
          <a:p>
            <a:r>
              <a:rPr sz="1100">
                <a:solidFill>
                  <a:srgbClr val="AAAAAA"/>
                </a:solidFill>
              </a:rPr>
              <a:t>• No single open tool turns the raw WebSocket feed into a queryable, live-updating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The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9476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AAAAA"/>
                </a:solidFill>
              </a:rPr>
              <a:t>• Ingest the global AIS WebSocket stream continuously</a:t>
            </a:r>
          </a:p>
          <a:p>
            <a:r>
              <a:rPr sz="1100">
                <a:solidFill>
                  <a:srgbClr val="AAAAAA"/>
                </a:solidFill>
              </a:rPr>
              <a:t>• Route, validate and persist positions in real-time</a:t>
            </a:r>
          </a:p>
          <a:p>
            <a:r>
              <a:rPr sz="1100">
                <a:solidFill>
                  <a:srgbClr val="AAAAAA"/>
                </a:solidFill>
              </a:rPr>
              <a:t>• Surface live positions and historical tracks on an interactive map</a:t>
            </a:r>
          </a:p>
          <a:p>
            <a:r>
              <a:rPr sz="1100">
                <a:solidFill>
                  <a:srgbClr val="AAAAAA"/>
                </a:solidFill>
              </a:rPr>
              <a:t>• Deploy the whole stack to the cloud with zero-touch CI/CD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14400"/>
            <a:ext cx="5577840" cy="19202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875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Data Source – AISStream.io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43584"/>
            <a:ext cx="539496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WebSocket API at wss://stream.aisstream.io/v0/stream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Subscription filter: global bounding box [-90,-180] → [90,180]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Each message carries a MessageType field — 20+ distinct AIS message types are fanned out automatically to matching Kafka topics.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5577840" cy="182880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0449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Key AIS Message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300984"/>
            <a:ext cx="539496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PositionReport – lat/lon, speed, heading (every ~5 s)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ShipStaticData – name, MMSI, type, dimensions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StandardClassBPositionReport, StaticDataReport, 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800">
                <a:solidFill>
                  <a:srgbClr val="00C8FF"/>
                </a:solidFill>
              </a:rPr>
              <a:t>AISStream.io</a:t>
            </a:r>
          </a:p>
          <a:p>
            <a:pPr algn="ctr"/>
            <a:r>
              <a:rPr sz="800">
                <a:solidFill>
                  <a:srgbClr val="00C8FF"/>
                </a:solidFill>
              </a:rPr>
              <a:t>WebSocket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96012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800">
                <a:solidFill>
                  <a:srgbClr val="00C8FF"/>
                </a:solidFill>
              </a:rPr>
              <a:t>ais_producer</a:t>
            </a:r>
          </a:p>
          <a:p>
            <a:pPr algn="ctr"/>
            <a:r>
              <a:rPr sz="800">
                <a:solidFill>
                  <a:srgbClr val="00C8FF"/>
                </a:solidFill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097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96012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800">
                <a:solidFill>
                  <a:srgbClr val="00C8FF"/>
                </a:solidFill>
              </a:rPr>
              <a:t>Apache Kafka</a:t>
            </a:r>
          </a:p>
          <a:p>
            <a:pPr algn="ctr"/>
            <a:r>
              <a:rPr sz="800">
                <a:solidFill>
                  <a:srgbClr val="00C8FF"/>
                </a:solidFill>
              </a:rPr>
              <a:t>20+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097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96012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800">
                <a:solidFill>
                  <a:srgbClr val="00C8FF"/>
                </a:solidFill>
              </a:rPr>
              <a:t>live_data_processor</a:t>
            </a:r>
          </a:p>
          <a:p>
            <a:pPr algn="ctr"/>
            <a:r>
              <a:rPr sz="800">
                <a:solidFill>
                  <a:srgbClr val="00C8FF"/>
                </a:solidFill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097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96012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800">
                <a:solidFill>
                  <a:srgbClr val="00E676"/>
                </a:solidFill>
              </a:rPr>
              <a:t>ships_live_data</a:t>
            </a:r>
          </a:p>
          <a:p>
            <a:pPr algn="ctr"/>
            <a:r>
              <a:rPr sz="800">
                <a:solidFill>
                  <a:srgbClr val="00E676"/>
                </a:solidFill>
              </a:rPr>
              <a:t>Kafka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097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96012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A2028"/>
          </a:solidFill>
          <a:ln w="952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800">
                <a:solidFill>
                  <a:srgbClr val="FFA500"/>
                </a:solidFill>
              </a:rPr>
              <a:t>PostgreSQL</a:t>
            </a:r>
          </a:p>
          <a:p>
            <a:pPr algn="ctr"/>
            <a:r>
              <a:rPr sz="800">
                <a:solidFill>
                  <a:srgbClr val="FFA500"/>
                </a:solidFill>
              </a:rPr>
              <a:t>3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097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98480" y="96012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800">
                <a:solidFill>
                  <a:srgbClr val="00E676"/>
                </a:solidFill>
              </a:rPr>
              <a:t>Flask + MapLibre</a:t>
            </a:r>
          </a:p>
          <a:p>
            <a:pPr algn="ctr"/>
            <a:r>
              <a:rPr sz="800">
                <a:solidFill>
                  <a:srgbClr val="00E676"/>
                </a:solidFill>
              </a:rPr>
              <a:t>Web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00200"/>
            <a:ext cx="5577840" cy="20116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733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Ingestion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929384"/>
            <a:ext cx="5394960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ais_producer – async WebSocket consumer; fans out each message to the Kafka topic matching its MessageType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Emits throughput stats every 10 000 messages to statistics_ais_producer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00200"/>
            <a:ext cx="5577840" cy="20116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733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Processing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9384"/>
            <a:ext cx="5394960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ships_live_data_processor – validates &amp; transforms PositionReport → ships_live_data topic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ships_static_data_processor – transforms ShipStaticData → ships_static_data 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5577840" cy="20116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136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Persistence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69664"/>
            <a:ext cx="5394960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ships_live_data_consumer – upserts latest position into ships_live_data table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position_history_consumer – writes timestamped positions for tracked ships into position_history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ships_static_data_consumer – upserts static vessel info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577840" cy="20116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136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Serving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69664"/>
            <a:ext cx="5394960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Flask REST API – /api/ships/live, /api/ships/&lt;id&gt;/history, /api/ships/tracked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MapLibre GL JS – renders live ship arrows on a dark tile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Message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Apache Kafka – Topic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Every AIS message type becomes its own Kafka topic. The producer routes by message["MessageType"] with zero configuration — new types are automatically handled.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5577840" cy="141732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562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Kafka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2264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Single broker · Zookeeper · Confluent Platform 7.5.3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All topics: 1 partition, RF 1 (single-node)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Configurable retention via KAFKA_LOG_RETENTION_MS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Kafka UI (Provectus) for observability on port 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101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High-volume topics (observed)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PositionReport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239 073 msgs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611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153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86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StandardClassBPositionReport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76 264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58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ShipStaticData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42 701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28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DataLinkManagementMessage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30 929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34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23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09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StaticDataReport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32 560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21 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960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Producer throughput statistics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252728"/>
            <a:ext cx="5577840" cy="196596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298448"/>
            <a:ext cx="5394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// emitted every 10 000 messages
// topic: statistics_ais_producer
{
  "timestamp":             "2026-04-25T10:20:50+00:00",
  "interval_seconds":       37.9,
  "interval_message_count": 10000,
  "interval_message_rate":  263.8,   // msgs/s
  "message_count":          380000
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310128"/>
            <a:ext cx="5577840" cy="10058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Throughput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639312"/>
            <a:ext cx="5394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Sustained ~250 msg/s from the global AIS stream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720 000+ messages processed in a single session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At peak: one position update every 4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407408"/>
            <a:ext cx="5577840" cy="141732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480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Message routing (producer core)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36592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async for message_json in websocket: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    message = json.loads(message_json)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    producer.send(message["MessageType"], message)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Python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Stream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840480" cy="24688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33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ships_live_data_processor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9304"/>
            <a:ext cx="365760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In: PositionReport  →  Out: ships_live_data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Validates AIS sentinel values (lat 91°, lon 181°, COG 360°, SOG 102.3+)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Maps numeric nav-status code → human-readable string (ITU-R M.1371-5)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Emits clean, typed JSON with ISO-8601 UTC timestamp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Skipped messages logged with 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In: PositionReport  →  Out: ships_live_data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960120"/>
            <a:ext cx="3840480" cy="24688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33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ships_live_data_consumer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289304"/>
            <a:ext cx="365760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In: ships_live_data  →  Out: PostgreSQL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Batched upsert into ships_live_data table (configurable batch size)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ON CONFLICT (ship_id) DO UPDATE keeps only latest position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Table stays small – one row per ship regardless of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In: ships_live_data  →  Out: 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960120"/>
            <a:ext cx="3840480" cy="24688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033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position_history_consumer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289304"/>
            <a:ext cx="365760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In: ships_live_data  →  Out: PostgreSQL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Only writes rows for ships listed in tracking_config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Tracking config refreshed every N messages (no restart required)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35+ batches written; 139 000+ history points accumulated for 6 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In: ships_live_data  →  Out: 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3840480" cy="24688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39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ships_static_data_processor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95344"/>
            <a:ext cx="365760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In: ShipStaticData  →  Out: ships_static_data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Extracts name, call sign, IMO number, vessel type, dimensions, ETA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Joins ship identity to live data via shared MMSI (ship_id)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86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In: ShipStaticData  →  Out: ships_static_data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566160"/>
            <a:ext cx="3840480" cy="24688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639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ships_static_data_consumer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95344"/>
            <a:ext cx="365760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In: ships_static_data  →  Out: PostgreSQL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Batched upsert into ships_static_data table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Configurable batch size via env var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886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In: ships_static_data  →  Out: 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566160"/>
            <a:ext cx="3840480" cy="246888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639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tracking_sync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895344"/>
            <a:ext cx="365760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Trigger: GitHub Actions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Reads tracked_ship_ids.json from the repo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Reconciles against tracking_config in Postgres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Activates / deactivates tracking without app restart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Ships not yet seen in the stream are skipped and retried on next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86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Trigger: GitHub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PostgreSQL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ships_live_data — latest position per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37744"/>
          </a:xfrm>
          <a:prstGeom prst="rect">
            <a:avLst/>
          </a:prstGeom>
          <a:solidFill>
            <a:srgbClr val="004055"/>
          </a:solidFill>
          <a:ln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5040" y="11887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4320" y="11887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26464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2646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ship_id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5040" y="142646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INTEGER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4320" y="142646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PK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64208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6420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ship_name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5040" y="166420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VARCHAR(50)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320" y="166420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01952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0195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course_over_ground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5040" y="190195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4320" y="190195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39696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13969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speed_over_ground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5040" y="213969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FLOAT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4320" y="213969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77440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7744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navigational_status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5040" y="237744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VARCHAR(100)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4320" y="237744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15184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61518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latitude / longitude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5040" y="261518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DOUBLE 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4320" y="261518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52928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85292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updated_at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5040" y="285292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TIMESTAMPTZ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4320" y="285292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7947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tracking_config — opt-in history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069080"/>
            <a:ext cx="5577840" cy="237744"/>
          </a:xfrm>
          <a:prstGeom prst="rect">
            <a:avLst/>
          </a:prstGeom>
          <a:solidFill>
            <a:srgbClr val="004055"/>
          </a:solidFill>
          <a:ln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06908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Column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5040" y="406908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84320" y="406908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306824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30682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ship_id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25040" y="430682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INTEGER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84320" y="430682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PK FK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544568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54456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enabled_from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25040" y="454456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TIMESTAMPTZ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4320" y="454456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PK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782312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78231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enabled_to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25040" y="478231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TIMESTAMPTZ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84320" y="478231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NULL = active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914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position_history — time-series track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1188720"/>
            <a:ext cx="5577840" cy="237744"/>
          </a:xfrm>
          <a:prstGeom prst="rect">
            <a:avLst/>
          </a:prstGeom>
          <a:solidFill>
            <a:srgbClr val="004055"/>
          </a:solidFill>
          <a:ln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11887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Column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77200" y="11887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36480" y="11887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1426464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142646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7200" y="142646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BIGSERIAL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36480" y="142646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PK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1664208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166420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ship_id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7200" y="166420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INTEGER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36480" y="166420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7CEEB"/>
                </a:solidFill>
              </a:rPr>
              <a:t>FK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1901952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190195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course_over_ground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77200" y="190195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FLOAT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36480" y="190195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2139696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213969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speed_over_ground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77200" y="213969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FLOAT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36480" y="213969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2377440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237744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navigational_status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77200" y="237744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VARCHAR(100)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36480" y="237744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2615184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261518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latitude / longitude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77200" y="261518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DOUBLE PRECISION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36480" y="261518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2852928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0" y="285292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recorded_at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77200" y="285292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TIMESTAMPTZ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36480" y="285292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0" y="36118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ships_static_data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3886200"/>
            <a:ext cx="5577840" cy="237744"/>
          </a:xfrm>
          <a:prstGeom prst="rect">
            <a:avLst/>
          </a:prstGeom>
          <a:solidFill>
            <a:srgbClr val="004055"/>
          </a:solidFill>
          <a:ln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7920" y="388620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Column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77200" y="388620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Type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36480" y="388620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6217920" y="4123944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0" y="412394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ship_id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77200" y="412394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INTEGER PK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36480" y="4123944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6217920" y="4361688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17920" y="436168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ship_name, call_sign, IMO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77200" y="436168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VARCHAR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36480" y="4361688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6217920" y="4599432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17920" y="459943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ship_type, destination, ETA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77200" y="459943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VARCHAR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36480" y="4599432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6217920" y="4837176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17920" y="483717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length_m, width_m, draught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77200" y="483717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INT / FLOAT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36480" y="4837176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6217920" y="5074920"/>
            <a:ext cx="5577840" cy="237744"/>
          </a:xfrm>
          <a:prstGeom prst="rect">
            <a:avLst/>
          </a:prstGeom>
          <a:solidFill>
            <a:srgbClr val="1A2028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17920" y="50749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updated_at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77200" y="50749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FF"/>
                </a:solidFill>
              </a:rPr>
              <a:t>TIMESTAMPTZ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36480" y="5074920"/>
            <a:ext cx="185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6217920" y="5303520"/>
            <a:ext cx="5577840" cy="141732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09360" y="53766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Design decisions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09360" y="5632704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ships_live_data is an upsert-only table — always O(1) lookup for the map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tracking_config uses composite PK (ship_id, enabled_from) to support multiple tracking periods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AAAAA"/>
                </a:solidFill>
              </a:rPr>
              <a:t>• FK cascade ensures history is always tied to a known vessel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Web Application – Live Ship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577840" cy="141732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Flask (Python) – lightweight REST API server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MapLibre GL JS – GPU-accelerated WebGL map rendering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GeoJSON – all spatial data transferred as standard FeatureCollections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Vanilla JS – no frontend framework overhead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5577840" cy="160020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96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API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52344"/>
            <a:ext cx="53949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GET /api/ships/live  →  GeoJSON of all ships with lat/lon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GET /api/ships/&lt;id&gt;/history  →  GeoJSON LineString + Points (up to 200 positions)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GET /api/ships/tracked  →  JSON list of actively-tracked ship IDs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14800"/>
            <a:ext cx="5577840" cy="173736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879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Live view stats (observed)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43984"/>
            <a:ext cx="539496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26 100 ships visible simultaneously on the map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Ship arrows rendered with MapLibre symbol layer, rotated by course_over_ground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Tracked ships highlighted in a distinct colour with clickable history track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Sidebar search by ship name or MMSI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914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No-cache API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13716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3444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@app.after_request
def no_cache(response):
    if request.path.startswith("/api/"):
        response.headers["Cache-Control"] = \
            "no-store, no-cache"
    return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517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GeoJSON live response shape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5577840" cy="288036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5394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{
  "type": "FeatureCollection",
  "features": [{
    "type": "Feature",
    "geometry": {
      "type": "Point",
      "coordinates": [10.12, 54.33]
    },
    "properties": {
      "ship_id": 211341930,
      "ship_name": "GAARDEN",
      "speed_over_ground": 1.0,
      "course_over_ground": 17.1,
      "is_tracked": true
    }
  }]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DevOps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Docker, CI/CD &amp; AWS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Container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Every service runs in its own Docker container, coordinated by a single docker-compose.yml: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1014983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zookeeper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72183" y="173736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kafka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3" y="1737360"/>
            <a:ext cx="932688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kafka-ui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1" y="1737360"/>
            <a:ext cx="932688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C8FF"/>
                </a:solidFill>
              </a:rPr>
              <a:t>postgres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66544"/>
            <a:ext cx="1261872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E676"/>
                </a:solidFill>
              </a:rPr>
              <a:t>ais-producer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2066544"/>
            <a:ext cx="1344168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E676"/>
                </a:solidFill>
              </a:rPr>
              <a:t>elt-processor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066544"/>
            <a:ext cx="1755648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E676"/>
                </a:solidFill>
              </a:rPr>
              <a:t>live-data-consumer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95728"/>
            <a:ext cx="233172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E676"/>
                </a:solidFill>
              </a:rPr>
              <a:t>position-history-consumer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395728"/>
            <a:ext cx="2002536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E676"/>
                </a:solidFill>
              </a:rPr>
              <a:t>static-data-processor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2395728"/>
            <a:ext cx="1920239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00E676"/>
                </a:solidFill>
              </a:rPr>
              <a:t>static-data-consumer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24912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FFA500"/>
                </a:solidFill>
              </a:rPr>
              <a:t>webapp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724912"/>
            <a:ext cx="1344168" cy="246888"/>
          </a:xfrm>
          <a:prstGeom prst="roundRect">
            <a:avLst>
              <a:gd name="adj" fmla="val 50000"/>
            </a:avLst>
          </a:prstGeom>
          <a:solidFill>
            <a:srgbClr val="1A2028"/>
          </a:solidFill>
          <a:ln w="952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900">
                <a:solidFill>
                  <a:srgbClr val="FFA500"/>
                </a:solidFill>
              </a:rPr>
              <a:t>tracking-sync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GitHub Actions Workflows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56432"/>
            <a:ext cx="1920240" cy="384048"/>
          </a:xfrm>
          <a:prstGeom prst="rect">
            <a:avLst/>
          </a:prstGeom>
          <a:solidFill>
            <a:srgbClr val="003044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02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FF"/>
                </a:solidFill>
              </a:rPr>
              <a:t>provision-ec2.yml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5021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Creates EC2 instance, security group, bootstraps Docker — manual trigger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13632"/>
            <a:ext cx="1920240" cy="384048"/>
          </a:xfrm>
          <a:prstGeom prst="rect">
            <a:avLst/>
          </a:prstGeom>
          <a:solidFill>
            <a:srgbClr val="003044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593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FF"/>
                </a:solidFill>
              </a:rPr>
              <a:t>deploy.yml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9593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SSH deploy on PR merge to main — git pull + docker compose 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70832"/>
            <a:ext cx="1920240" cy="384048"/>
          </a:xfrm>
          <a:prstGeom prst="rect">
            <a:avLst/>
          </a:prstGeom>
          <a:solidFill>
            <a:srgbClr val="003044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416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FF"/>
                </a:solidFill>
              </a:rPr>
              <a:t>tracking-sync.yml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4165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Runs on change to tracked_ship_ids.json — syncs DB tracking config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914400"/>
            <a:ext cx="5577840" cy="1874519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9875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AWS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243584"/>
            <a:ext cx="5394960" cy="149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Single t3.large EC2 instance (2 vCPU / 8 GB RAM)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Ubuntu 22.04 LTS — resolved dynamically via SSM parameter (no stale AMI IDs)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30 GB gp3 EBS volume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Security group: ports 22 (SSH), 5000 (webapp), 9093 (Kafka)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Tagged ManagedBy: github-actions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80360"/>
            <a:ext cx="5577840" cy="141732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953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Secrets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209544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All credentials stored as GitHub repository secrets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ENV_FILE secret is written to .env on the instance via printf — never touches git history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API key, DB password, AIS key — zero secrets in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389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Deploy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663440"/>
            <a:ext cx="5577840" cy="169164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709160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# On every PR merge → main
git pull origin main
printf '%s' "$ENV_FILE" &gt; .env.tmp
mv .env.tmp .env
docker compose up --build -d \
    --remove-orphans
docker image prune -f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Key Numbers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26 100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72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Ships tracked live simultaneously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~264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572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Messages per second sustained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1440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720 000+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572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Messages processed in one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91440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051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572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Distinct Kafka topics auto-routed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239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9900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PositionReport messages (153 MB)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33172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139 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9900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Position history points written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33172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900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Docker containers in the stack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2331720"/>
            <a:ext cx="2743200" cy="12344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9900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GitHub Actions workflows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77639"/>
            <a:ext cx="5760720" cy="14630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050791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Observed throughput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306823"/>
            <a:ext cx="55778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The producer processed 10 000 messages every ~38 seconds on average.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At this rate the system ingests ~920 000 messages per hour.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Well within the capacity of a single Kafka broker and single-node Postgres on a t3.large.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77639"/>
            <a:ext cx="5577840" cy="14630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507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Position history consumer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06823"/>
            <a:ext cx="539496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With 6 actively-tracked ships, the position history consumer wrote 35+ batches.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~139 000 non-tracked messages skipped.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Full history written for named vessels: COLOR MAGIC, STENA SCANDINAVICA, GAARDEN.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C8FF"/>
                </a:solidFill>
              </a:rPr>
              <a:t>Roadmap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✓ Completed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243584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Global AIS WebSocket ingestion via aisstream.io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527048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Kafka fan-out by message type (20+ topics)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1810512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7393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Stream validation &amp; transformation pipeline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2093976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PostgreSQL persistence with live + history tables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2377440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4086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Opt-in position history tracking via JSON config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2660904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2432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MapLibre GL live map with 26 000+ ships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2944368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077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Full Docker Compose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3227832"/>
            <a:ext cx="128016" cy="128016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9125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GitHub Actions: provision EC2, deploy on PR merge, tracking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204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→ Next</a:t>
            </a:r>
          </a:p>
        </p:txBody>
      </p:sp>
      <p:sp>
        <p:nvSpPr>
          <p:cNvPr id="22" name="Oval 21"/>
          <p:cNvSpPr/>
          <p:nvPr/>
        </p:nvSpPr>
        <p:spPr>
          <a:xfrm>
            <a:off x="365760" y="3858768"/>
            <a:ext cx="128016" cy="1280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221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Ship static data enrichment in the UI (name, type, dimensions)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" y="4142232"/>
            <a:ext cx="128016" cy="1280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0565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History track visualisation on the map (LineString layer)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" y="4425696"/>
            <a:ext cx="128016" cy="1280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Admin UI panel to edit tracked ships without editing JSON</a:t>
            </a:r>
          </a:p>
        </p:txBody>
      </p:sp>
      <p:sp>
        <p:nvSpPr>
          <p:cNvPr id="28" name="Oval 27"/>
          <p:cNvSpPr/>
          <p:nvPr/>
        </p:nvSpPr>
        <p:spPr>
          <a:xfrm>
            <a:off x="365760" y="4709160"/>
            <a:ext cx="128016" cy="1280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7258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CSV export of position history per 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914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Potential Extensions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1243584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20700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Alerting – notify when a ship enters a geofence or exceeds a speed threshold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1591056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55448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Weather overlay – add a second WebSocket API as a parallel Kafka stream; join with ship positions in PySpark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1938528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90195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Data warehouse – push from Kafka to Redshift / Snowflake for analytical queries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2286000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24942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AWS Glue + Lambda – serverless ETL for periodic aggregations</a:t>
            </a:r>
          </a:p>
        </p:txBody>
      </p:sp>
      <p:sp>
        <p:nvSpPr>
          <p:cNvPr id="39" name="Oval 38"/>
          <p:cNvSpPr/>
          <p:nvPr/>
        </p:nvSpPr>
        <p:spPr>
          <a:xfrm>
            <a:off x="6217920" y="2633472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5968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Step Functions – orchestrate multi-step maintenance jobs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2980944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9443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User auth – JWT-gated access for the webapp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3328416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2918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Terraform – replace AWS CLI provisioning with declarative IaC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206240"/>
            <a:ext cx="5577840" cy="1920240"/>
          </a:xfrm>
          <a:prstGeom prst="rect">
            <a:avLst/>
          </a:prstGeom>
          <a:solidFill>
            <a:srgbClr val="1A2028"/>
          </a:solidFill>
          <a:ln w="9525">
            <a:solidFill>
              <a:srgbClr val="006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2793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Technologies demonstrated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535424"/>
            <a:ext cx="539496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This project covers the full data engineering stack learned across 12 weeks: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Python · SQL · Docker · REST APIs · Kafka · PostgreSQL · Flask · MapLibre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AAAAAA"/>
                </a:solidFill>
              </a:rPr>
              <a:t>• AWS EC2 · GitHub Actions · CI/CD · Secrets Management · Stream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